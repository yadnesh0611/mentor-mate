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A2CCB1-BDF8-4E34-B910-EAABE4FC3039}" v="6" dt="2026-09-07T19:19:24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47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nesh Kshirsagar." userId="50ae0be4c39529b8" providerId="LiveId" clId="{25AF81C1-E1FE-48BE-B13B-186B60B1A19A}"/>
    <pc:docChg chg="undo custSel modSld">
      <pc:chgData name="Yadnesh Kshirsagar." userId="50ae0be4c39529b8" providerId="LiveId" clId="{25AF81C1-E1FE-48BE-B13B-186B60B1A19A}" dt="2026-09-07T19:19:58.576" v="329" actId="1076"/>
      <pc:docMkLst>
        <pc:docMk/>
      </pc:docMkLst>
      <pc:sldChg chg="delSp modSp mod">
        <pc:chgData name="Yadnesh Kshirsagar." userId="50ae0be4c39529b8" providerId="LiveId" clId="{25AF81C1-E1FE-48BE-B13B-186B60B1A19A}" dt="2026-09-07T18:52:30.179" v="250" actId="20577"/>
        <pc:sldMkLst>
          <pc:docMk/>
          <pc:sldMk cId="0" sldId="281"/>
        </pc:sldMkLst>
        <pc:spChg chg="del">
          <ac:chgData name="Yadnesh Kshirsagar." userId="50ae0be4c39529b8" providerId="LiveId" clId="{25AF81C1-E1FE-48BE-B13B-186B60B1A19A}" dt="2026-09-07T18:22:51.128" v="9" actId="478"/>
          <ac:spMkLst>
            <pc:docMk/>
            <pc:sldMk cId="0" sldId="281"/>
            <ac:spMk id="9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52:30.179" v="250" actId="20577"/>
          <ac:spMkLst>
            <pc:docMk/>
            <pc:sldMk cId="0" sldId="281"/>
            <ac:spMk id="15362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25:29.637" v="47" actId="1076"/>
          <ac:spMkLst>
            <pc:docMk/>
            <pc:sldMk cId="0" sldId="281"/>
            <ac:spMk id="15364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25:08.062" v="43" actId="255"/>
          <ac:spMkLst>
            <pc:docMk/>
            <pc:sldMk cId="0" sldId="281"/>
            <ac:spMk id="15365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25:54.133" v="51" actId="1076"/>
          <ac:spMkLst>
            <pc:docMk/>
            <pc:sldMk cId="0" sldId="281"/>
            <ac:spMk id="15366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25:58.152" v="52" actId="1076"/>
          <ac:spMkLst>
            <pc:docMk/>
            <pc:sldMk cId="0" sldId="281"/>
            <ac:spMk id="15367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25:14.071" v="44" actId="255"/>
          <ac:spMkLst>
            <pc:docMk/>
            <pc:sldMk cId="0" sldId="281"/>
            <ac:spMk id="15368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25:49.956" v="50" actId="1076"/>
          <ac:spMkLst>
            <pc:docMk/>
            <pc:sldMk cId="0" sldId="281"/>
            <ac:spMk id="15370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25:20.868" v="45" actId="255"/>
          <ac:spMkLst>
            <pc:docMk/>
            <pc:sldMk cId="0" sldId="281"/>
            <ac:spMk id="15371" creationId="{00000000-0000-0000-0000-000000000000}"/>
          </ac:spMkLst>
        </pc:spChg>
      </pc:sldChg>
      <pc:sldChg chg="delSp modSp mod">
        <pc:chgData name="Yadnesh Kshirsagar." userId="50ae0be4c39529b8" providerId="LiveId" clId="{25AF81C1-E1FE-48BE-B13B-186B60B1A19A}" dt="2026-09-07T18:56:20.854" v="298" actId="20577"/>
        <pc:sldMkLst>
          <pc:docMk/>
          <pc:sldMk cId="0" sldId="290"/>
        </pc:sldMkLst>
        <pc:spChg chg="del">
          <ac:chgData name="Yadnesh Kshirsagar." userId="50ae0be4c39529b8" providerId="LiveId" clId="{25AF81C1-E1FE-48BE-B13B-186B60B1A19A}" dt="2026-09-07T18:26:15.260" v="53" actId="478"/>
          <ac:spMkLst>
            <pc:docMk/>
            <pc:sldMk cId="0" sldId="290"/>
            <ac:spMk id="10" creationId="{AD4F69D3-EEB0-4C4C-9434-B9960FB5854C}"/>
          </ac:spMkLst>
        </pc:spChg>
        <pc:spChg chg="mod">
          <ac:chgData name="Yadnesh Kshirsagar." userId="50ae0be4c39529b8" providerId="LiveId" clId="{25AF81C1-E1FE-48BE-B13B-186B60B1A19A}" dt="2026-09-07T18:36:53.530" v="132" actId="1076"/>
          <ac:spMkLst>
            <pc:docMk/>
            <pc:sldMk cId="0" sldId="290"/>
            <ac:spMk id="17409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7:00.790" v="137" actId="20577"/>
          <ac:spMkLst>
            <pc:docMk/>
            <pc:sldMk cId="0" sldId="290"/>
            <ac:spMk id="17410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0:04.278" v="92" actId="255"/>
          <ac:spMkLst>
            <pc:docMk/>
            <pc:sldMk cId="0" sldId="290"/>
            <ac:spMk id="17411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5:53.691" v="123" actId="14100"/>
          <ac:spMkLst>
            <pc:docMk/>
            <pc:sldMk cId="0" sldId="290"/>
            <ac:spMk id="17412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6:46.606" v="131" actId="1076"/>
          <ac:spMkLst>
            <pc:docMk/>
            <pc:sldMk cId="0" sldId="290"/>
            <ac:spMk id="17413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56:20.854" v="298" actId="20577"/>
          <ac:spMkLst>
            <pc:docMk/>
            <pc:sldMk cId="0" sldId="290"/>
            <ac:spMk id="17414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6:07.219" v="125" actId="14100"/>
          <ac:spMkLst>
            <pc:docMk/>
            <pc:sldMk cId="0" sldId="290"/>
            <ac:spMk id="17415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6:31.354" v="129" actId="1076"/>
          <ac:spMkLst>
            <pc:docMk/>
            <pc:sldMk cId="0" sldId="290"/>
            <ac:spMk id="17416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55:58.934" v="293" actId="20577"/>
          <ac:spMkLst>
            <pc:docMk/>
            <pc:sldMk cId="0" sldId="290"/>
            <ac:spMk id="17417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6:20.852" v="127" actId="14100"/>
          <ac:spMkLst>
            <pc:docMk/>
            <pc:sldMk cId="0" sldId="290"/>
            <ac:spMk id="17418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6:36.505" v="130" actId="1076"/>
          <ac:spMkLst>
            <pc:docMk/>
            <pc:sldMk cId="0" sldId="290"/>
            <ac:spMk id="17419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55:54.493" v="292" actId="20577"/>
          <ac:spMkLst>
            <pc:docMk/>
            <pc:sldMk cId="0" sldId="290"/>
            <ac:spMk id="17420" creationId="{00000000-0000-0000-0000-000000000000}"/>
          </ac:spMkLst>
        </pc:spChg>
      </pc:sldChg>
      <pc:sldChg chg="modSp mod">
        <pc:chgData name="Yadnesh Kshirsagar." userId="50ae0be4c39529b8" providerId="LiveId" clId="{25AF81C1-E1FE-48BE-B13B-186B60B1A19A}" dt="2026-09-07T18:22:13.897" v="8" actId="255"/>
        <pc:sldMkLst>
          <pc:docMk/>
          <pc:sldMk cId="0" sldId="291"/>
        </pc:sldMkLst>
        <pc:spChg chg="mod">
          <ac:chgData name="Yadnesh Kshirsagar." userId="50ae0be4c39529b8" providerId="LiveId" clId="{25AF81C1-E1FE-48BE-B13B-186B60B1A19A}" dt="2026-09-07T18:21:38.406" v="5" actId="14100"/>
          <ac:spMkLst>
            <pc:docMk/>
            <pc:sldMk cId="0" sldId="291"/>
            <ac:spMk id="38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22:13.897" v="8" actId="255"/>
          <ac:spMkLst>
            <pc:docMk/>
            <pc:sldMk cId="0" sldId="291"/>
            <ac:spMk id="39" creationId="{00000000-0000-0000-0000-000000000000}"/>
          </ac:spMkLst>
        </pc:spChg>
      </pc:sldChg>
      <pc:sldChg chg="delSp modSp mod">
        <pc:chgData name="Yadnesh Kshirsagar." userId="50ae0be4c39529b8" providerId="LiveId" clId="{25AF81C1-E1FE-48BE-B13B-186B60B1A19A}" dt="2026-09-07T19:03:44.351" v="299" actId="1076"/>
        <pc:sldMkLst>
          <pc:docMk/>
          <pc:sldMk cId="3753387913" sldId="293"/>
        </pc:sldMkLst>
        <pc:spChg chg="del">
          <ac:chgData name="Yadnesh Kshirsagar." userId="50ae0be4c39529b8" providerId="LiveId" clId="{25AF81C1-E1FE-48BE-B13B-186B60B1A19A}" dt="2026-09-07T18:37:16.149" v="139" actId="478"/>
          <ac:spMkLst>
            <pc:docMk/>
            <pc:sldMk cId="3753387913" sldId="293"/>
            <ac:spMk id="10" creationId="{AD4F69D3-EEB0-4C4C-9434-B9960FB5854C}"/>
          </ac:spMkLst>
        </pc:spChg>
        <pc:spChg chg="mod">
          <ac:chgData name="Yadnesh Kshirsagar." userId="50ae0be4c39529b8" providerId="LiveId" clId="{25AF81C1-E1FE-48BE-B13B-186B60B1A19A}" dt="2026-09-07T18:42:48.354" v="180" actId="1076"/>
          <ac:spMkLst>
            <pc:docMk/>
            <pc:sldMk cId="3753387913" sldId="293"/>
            <ac:spMk id="17409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52:37.166" v="254" actId="20577"/>
          <ac:spMkLst>
            <pc:docMk/>
            <pc:sldMk cId="3753387913" sldId="293"/>
            <ac:spMk id="17410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8:06.297" v="146" actId="14100"/>
          <ac:spMkLst>
            <pc:docMk/>
            <pc:sldMk cId="3753387913" sldId="293"/>
            <ac:spMk id="17411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9:03:44.351" v="299" actId="1076"/>
          <ac:spMkLst>
            <pc:docMk/>
            <pc:sldMk cId="3753387913" sldId="293"/>
            <ac:spMk id="17412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1:50.145" v="175" actId="20577"/>
          <ac:spMkLst>
            <pc:docMk/>
            <pc:sldMk cId="3753387913" sldId="293"/>
            <ac:spMk id="17413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3:32.992" v="181" actId="14100"/>
          <ac:spMkLst>
            <pc:docMk/>
            <pc:sldMk cId="3753387913" sldId="293"/>
            <ac:spMk id="17414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39:21.816" v="154" actId="1076"/>
          <ac:spMkLst>
            <pc:docMk/>
            <pc:sldMk cId="3753387913" sldId="293"/>
            <ac:spMk id="17415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2:43.010" v="179" actId="1076"/>
          <ac:spMkLst>
            <pc:docMk/>
            <pc:sldMk cId="3753387913" sldId="293"/>
            <ac:spMk id="17416" creationId="{00000000-0000-0000-0000-000000000000}"/>
          </ac:spMkLst>
        </pc:spChg>
      </pc:sldChg>
      <pc:sldChg chg="delSp modSp mod">
        <pc:chgData name="Yadnesh Kshirsagar." userId="50ae0be4c39529b8" providerId="LiveId" clId="{25AF81C1-E1FE-48BE-B13B-186B60B1A19A}" dt="2026-09-07T18:52:43.837" v="259" actId="20577"/>
        <pc:sldMkLst>
          <pc:docMk/>
          <pc:sldMk cId="2997144140" sldId="294"/>
        </pc:sldMkLst>
        <pc:spChg chg="del mod">
          <ac:chgData name="Yadnesh Kshirsagar." userId="50ae0be4c39529b8" providerId="LiveId" clId="{25AF81C1-E1FE-48BE-B13B-186B60B1A19A}" dt="2026-09-07T18:45:49.103" v="203" actId="478"/>
          <ac:spMkLst>
            <pc:docMk/>
            <pc:sldMk cId="2997144140" sldId="294"/>
            <ac:spMk id="10" creationId="{AD4F69D3-EEB0-4C4C-9434-B9960FB5854C}"/>
          </ac:spMkLst>
        </pc:spChg>
        <pc:spChg chg="mod">
          <ac:chgData name="Yadnesh Kshirsagar." userId="50ae0be4c39529b8" providerId="LiveId" clId="{25AF81C1-E1FE-48BE-B13B-186B60B1A19A}" dt="2026-09-07T18:52:43.837" v="259" actId="20577"/>
          <ac:spMkLst>
            <pc:docMk/>
            <pc:sldMk cId="2997144140" sldId="294"/>
            <ac:spMk id="17410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5:39.999" v="201" actId="1076"/>
          <ac:spMkLst>
            <pc:docMk/>
            <pc:sldMk cId="2997144140" sldId="294"/>
            <ac:spMk id="17412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3:55.656" v="183" actId="1076"/>
          <ac:spMkLst>
            <pc:docMk/>
            <pc:sldMk cId="2997144140" sldId="294"/>
            <ac:spMk id="17413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5:21.058" v="197" actId="14100"/>
          <ac:spMkLst>
            <pc:docMk/>
            <pc:sldMk cId="2997144140" sldId="294"/>
            <ac:spMk id="17415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4:14.633" v="186" actId="1076"/>
          <ac:spMkLst>
            <pc:docMk/>
            <pc:sldMk cId="2997144140" sldId="294"/>
            <ac:spMk id="17416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4:28.148" v="188" actId="1076"/>
          <ac:spMkLst>
            <pc:docMk/>
            <pc:sldMk cId="2997144140" sldId="294"/>
            <ac:spMk id="17417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5:11.994" v="195" actId="1076"/>
          <ac:spMkLst>
            <pc:docMk/>
            <pc:sldMk cId="2997144140" sldId="294"/>
            <ac:spMk id="17418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4:33.401" v="189" actId="1076"/>
          <ac:spMkLst>
            <pc:docMk/>
            <pc:sldMk cId="2997144140" sldId="294"/>
            <ac:spMk id="17419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7:24.072" v="221" actId="14100"/>
          <ac:spMkLst>
            <pc:docMk/>
            <pc:sldMk cId="2997144140" sldId="294"/>
            <ac:spMk id="17420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7:49.621" v="223" actId="255"/>
          <ac:spMkLst>
            <pc:docMk/>
            <pc:sldMk cId="2997144140" sldId="294"/>
            <ac:spMk id="17421" creationId="{00000000-0000-0000-0000-000000000000}"/>
          </ac:spMkLst>
        </pc:spChg>
      </pc:sldChg>
      <pc:sldChg chg="addSp delSp modSp mod">
        <pc:chgData name="Yadnesh Kshirsagar." userId="50ae0be4c39529b8" providerId="LiveId" clId="{25AF81C1-E1FE-48BE-B13B-186B60B1A19A}" dt="2026-09-07T19:19:58.576" v="329" actId="1076"/>
        <pc:sldMkLst>
          <pc:docMk/>
          <pc:sldMk cId="3916788613" sldId="296"/>
        </pc:sldMkLst>
        <pc:spChg chg="add mod">
          <ac:chgData name="Yadnesh Kshirsagar." userId="50ae0be4c39529b8" providerId="LiveId" clId="{25AF81C1-E1FE-48BE-B13B-186B60B1A19A}" dt="2026-09-07T19:19:58.576" v="329" actId="1076"/>
          <ac:spMkLst>
            <pc:docMk/>
            <pc:sldMk cId="3916788613" sldId="296"/>
            <ac:spMk id="2" creationId="{CFE4685F-F9F8-C0D4-5AA6-5D2BD598CBFA}"/>
          </ac:spMkLst>
        </pc:spChg>
        <pc:spChg chg="del">
          <ac:chgData name="Yadnesh Kshirsagar." userId="50ae0be4c39529b8" providerId="LiveId" clId="{25AF81C1-E1FE-48BE-B13B-186B60B1A19A}" dt="2026-09-07T18:49:15.510" v="233" actId="478"/>
          <ac:spMkLst>
            <pc:docMk/>
            <pc:sldMk cId="3916788613" sldId="296"/>
            <ac:spMk id="10" creationId="{AD4F69D3-EEB0-4C4C-9434-B9960FB5854C}"/>
          </ac:spMkLst>
        </pc:spChg>
        <pc:spChg chg="mod">
          <ac:chgData name="Yadnesh Kshirsagar." userId="50ae0be4c39529b8" providerId="LiveId" clId="{25AF81C1-E1FE-48BE-B13B-186B60B1A19A}" dt="2026-09-07T18:52:50.888" v="264" actId="20577"/>
          <ac:spMkLst>
            <pc:docMk/>
            <pc:sldMk cId="3916788613" sldId="296"/>
            <ac:spMk id="17410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9:06:24.961" v="301" actId="14100"/>
          <ac:spMkLst>
            <pc:docMk/>
            <pc:sldMk cId="3916788613" sldId="296"/>
            <ac:spMk id="17411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9:42.663" v="237" actId="1076"/>
          <ac:spMkLst>
            <pc:docMk/>
            <pc:sldMk cId="3916788613" sldId="296"/>
            <ac:spMk id="17412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50:40.661" v="245" actId="1076"/>
          <ac:spMkLst>
            <pc:docMk/>
            <pc:sldMk cId="3916788613" sldId="296"/>
            <ac:spMk id="17413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9:06:29.742" v="302" actId="14100"/>
          <ac:spMkLst>
            <pc:docMk/>
            <pc:sldMk cId="3916788613" sldId="296"/>
            <ac:spMk id="17414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50:07.608" v="240" actId="1076"/>
          <ac:spMkLst>
            <pc:docMk/>
            <pc:sldMk cId="3916788613" sldId="296"/>
            <ac:spMk id="17415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8:30.381" v="228" actId="1076"/>
          <ac:spMkLst>
            <pc:docMk/>
            <pc:sldMk cId="3916788613" sldId="296"/>
            <ac:spMk id="17416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9:06:36.982" v="303" actId="14100"/>
          <ac:spMkLst>
            <pc:docMk/>
            <pc:sldMk cId="3916788613" sldId="296"/>
            <ac:spMk id="17417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50:30.475" v="244" actId="1076"/>
          <ac:spMkLst>
            <pc:docMk/>
            <pc:sldMk cId="3916788613" sldId="296"/>
            <ac:spMk id="17418" creationId="{00000000-0000-0000-0000-000000000000}"/>
          </ac:spMkLst>
        </pc:spChg>
        <pc:spChg chg="mod">
          <ac:chgData name="Yadnesh Kshirsagar." userId="50ae0be4c39529b8" providerId="LiveId" clId="{25AF81C1-E1FE-48BE-B13B-186B60B1A19A}" dt="2026-09-07T18:48:22.267" v="227" actId="1076"/>
          <ac:spMkLst>
            <pc:docMk/>
            <pc:sldMk cId="3916788613" sldId="296"/>
            <ac:spMk id="174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drv.ms/w/c/bea99ad8e29ab209/IQADxSzpLmJ7RZv6ZFMZgCxiAbkm9MJQU8xzQxkLoFgw4cE?e=hSY0f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94360" y="365760"/>
            <a:ext cx="9144000" cy="548640"/>
          </a:xfrm>
        </p:spPr>
        <p:txBody>
          <a:bodyPr/>
          <a:lstStyle/>
          <a:p>
            <a:pPr>
              <a:defRPr sz="2800" b="1">
                <a:solidFill>
                  <a:srgbClr val="FF6600"/>
                </a:solidFill>
                <a:latin typeface="Segoe UI"/>
              </a:defRPr>
            </a:pPr>
            <a:r>
              <a:rPr dirty="0"/>
              <a:t>SMART INDIA HACKATHON 2026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99866" y="1051560"/>
            <a:ext cx="6138094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rtlCol="0" anchor="ctr"/>
          <a:lstStyle/>
          <a:p>
            <a:pPr algn="ctr"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MENTOR MATE</a:t>
            </a:r>
            <a:endParaRPr lang="en-US" dirty="0"/>
          </a:p>
          <a:p>
            <a:pPr algn="ctr">
              <a:defRPr sz="2600" b="1">
                <a:solidFill>
                  <a:srgbClr val="0F172A"/>
                </a:solidFill>
                <a:latin typeface="Segoe UI"/>
              </a:defRPr>
            </a:pPr>
            <a:endParaRPr dirty="0"/>
          </a:p>
          <a:p>
            <a:pPr algn="ctr">
              <a:spcBef>
                <a:spcPts val="400"/>
              </a:spcBef>
              <a:defRPr sz="1300" b="1">
                <a:solidFill>
                  <a:srgbClr val="0284C7"/>
                </a:solidFill>
                <a:latin typeface="Segoe UI"/>
              </a:defRPr>
            </a:pPr>
            <a:r>
              <a:rPr dirty="0"/>
              <a:t>An AI Academic Learning Assistant Built on Real Student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9866" y="3154680"/>
            <a:ext cx="6138094" cy="2971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r>
              <a:rPr sz="1400" b="1" dirty="0">
                <a:solidFill>
                  <a:srgbClr val="0F172A"/>
                </a:solidFill>
                <a:latin typeface="Segoe UI"/>
              </a:rPr>
              <a:t>Problem Statement Title: </a:t>
            </a:r>
            <a:r>
              <a:rPr sz="1400" dirty="0">
                <a:solidFill>
                  <a:srgbClr val="1E293B"/>
                </a:solidFill>
                <a:latin typeface="Segoe UI"/>
              </a:rPr>
              <a:t>Autonomous Academic Learning Twin for Real-Time Personalized Learning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Problem Statement ID: </a:t>
            </a:r>
            <a:r>
              <a:rPr sz="1400" dirty="0">
                <a:solidFill>
                  <a:srgbClr val="1E293B"/>
                </a:solidFill>
                <a:latin typeface="Segoe UI"/>
              </a:rPr>
              <a:t>SIH26207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Theme: </a:t>
            </a:r>
            <a:r>
              <a:rPr sz="1400" dirty="0">
                <a:solidFill>
                  <a:srgbClr val="1E293B"/>
                </a:solidFill>
                <a:latin typeface="Segoe UI"/>
              </a:rPr>
              <a:t>Smart Education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Category: </a:t>
            </a:r>
            <a:r>
              <a:rPr sz="1400" dirty="0">
                <a:solidFill>
                  <a:srgbClr val="1E293B"/>
                </a:solidFill>
                <a:latin typeface="Segoe UI"/>
              </a:rPr>
              <a:t>Software Edition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Team Name: </a:t>
            </a:r>
            <a:r>
              <a:rPr sz="1400" dirty="0">
                <a:solidFill>
                  <a:srgbClr val="1E293B"/>
                </a:solidFill>
                <a:latin typeface="Segoe UI"/>
              </a:rPr>
              <a:t>Mentor Mate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0F172A"/>
                </a:solidFill>
                <a:latin typeface="Segoe UI"/>
              </a:rPr>
              <a:t>Key Technologies Used: </a:t>
            </a:r>
            <a:r>
              <a:rPr sz="1400" dirty="0">
                <a:solidFill>
                  <a:srgbClr val="1E293B"/>
                </a:solidFill>
                <a:latin typeface="Segoe UI"/>
              </a:rPr>
              <a:t>Next.js, React, </a:t>
            </a:r>
            <a:r>
              <a:rPr sz="1400" dirty="0" err="1">
                <a:solidFill>
                  <a:srgbClr val="1E293B"/>
                </a:solidFill>
                <a:latin typeface="Segoe UI"/>
              </a:rPr>
              <a:t>FastAPI</a:t>
            </a:r>
            <a:r>
              <a:rPr sz="1400" dirty="0">
                <a:solidFill>
                  <a:srgbClr val="1E293B"/>
                </a:solidFill>
                <a:latin typeface="Segoe UI"/>
              </a:rPr>
              <a:t> (Python), Vision AI (OCR),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514600" y="256032"/>
            <a:ext cx="7132320" cy="530352"/>
          </a:xfrm>
        </p:spPr>
        <p:txBody>
          <a:bodyPr wrap="square" lIns="45720"/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PROPOSED SOLUTION: MENTOR MATE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94360" y="320040"/>
            <a:ext cx="17830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MENTOR MATE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94360" y="1188720"/>
            <a:ext cx="3474720" cy="49377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Rounded Rectangle 15363"/>
          <p:cNvSpPr/>
          <p:nvPr/>
        </p:nvSpPr>
        <p:spPr>
          <a:xfrm>
            <a:off x="244377" y="1444752"/>
            <a:ext cx="1645920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THE REAL PROBLEM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777240" y="1899017"/>
            <a:ext cx="3108960" cy="4024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1" dirty="0">
                <a:solidFill>
                  <a:srgbClr val="B91C1C"/>
                </a:solidFill>
                <a:latin typeface="Segoe UI"/>
              </a:rPr>
              <a:t>Same Recorded Videos for Everyone</a:t>
            </a:r>
            <a:endParaRPr lang="en-US" sz="1200" b="1" dirty="0">
              <a:solidFill>
                <a:srgbClr val="B91C1C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B91C1C"/>
                </a:solidFill>
                <a:latin typeface="Segoe UI"/>
              </a:rPr>
              <a:t>
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Every student is given the exact same video playlist, ignoring what they already know and where they struggle.</a:t>
            </a:r>
            <a:endParaRPr lang="en-US"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endParaRPr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1200"/>
              </a:spcBef>
            </a:pPr>
            <a:r>
              <a:rPr sz="1200" b="1" dirty="0">
                <a:solidFill>
                  <a:srgbClr val="B91C1C"/>
                </a:solidFill>
                <a:latin typeface="Segoe UI"/>
              </a:rPr>
              <a:t>Handwritten Notes Get Ignored
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Students spend hours writing notes in school and college lectures, but current apps cannot read or use these notes.</a:t>
            </a:r>
            <a:endParaRPr lang="en-US"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1200"/>
              </a:spcBef>
            </a:pPr>
            <a:endParaRPr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1200"/>
              </a:spcBef>
            </a:pPr>
            <a:r>
              <a:rPr sz="1200" b="1" dirty="0">
                <a:solidFill>
                  <a:srgbClr val="B91C1C"/>
                </a:solidFill>
                <a:latin typeface="Segoe UI"/>
              </a:rPr>
              <a:t>Passive Watching Without Practice
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Watching long videos gives a false feeling of learning. When exam day comes, students struggle to solve real questions.</a:t>
            </a:r>
            <a:endParaRPr lang="en-US"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1200"/>
              </a:spcBef>
            </a:pPr>
            <a:endParaRPr sz="1050" dirty="0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15366" name="Rounded Rectangle 15365"/>
          <p:cNvSpPr/>
          <p:nvPr/>
        </p:nvSpPr>
        <p:spPr>
          <a:xfrm>
            <a:off x="4338320" y="1188720"/>
            <a:ext cx="3474720" cy="49377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7" name="Rounded Rectangle 15366"/>
          <p:cNvSpPr/>
          <p:nvPr/>
        </p:nvSpPr>
        <p:spPr>
          <a:xfrm>
            <a:off x="4069080" y="1449775"/>
            <a:ext cx="1645920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OUR SOLUTION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526280" y="1903240"/>
            <a:ext cx="310896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1" dirty="0">
                <a:solidFill>
                  <a:srgbClr val="0369A1"/>
                </a:solidFill>
                <a:latin typeface="Segoe UI"/>
              </a:rPr>
              <a:t>Learns From Student Notes</a:t>
            </a:r>
            <a:endParaRPr lang="en-US" sz="1200" b="1" dirty="0">
              <a:solidFill>
                <a:srgbClr val="0369A1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369A1"/>
                </a:solidFill>
                <a:latin typeface="Segoe UI"/>
              </a:rPr>
              <a:t>
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Students simply take a picture of their notebook or upload lecture PDFs. The system reads the text and formulas directly.</a:t>
            </a:r>
            <a:endParaRPr lang="en-US"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endParaRPr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1200"/>
              </a:spcBef>
            </a:pPr>
            <a:r>
              <a:rPr sz="1200" b="1" dirty="0">
                <a:solidFill>
                  <a:srgbClr val="0369A1"/>
                </a:solidFill>
                <a:latin typeface="Segoe UI"/>
              </a:rPr>
              <a:t>Creates Instant Practice Te</a:t>
            </a:r>
            <a:r>
              <a:rPr lang="en-US" sz="1200" b="1" dirty="0">
                <a:solidFill>
                  <a:srgbClr val="0369A1"/>
                </a:solidFill>
                <a:latin typeface="Segoe UI"/>
              </a:rPr>
              <a:t>sts
</a:t>
            </a:r>
            <a:r>
              <a:rPr lang="en-US" sz="1200" dirty="0">
                <a:solidFill>
                  <a:srgbClr val="1E293B"/>
                </a:solidFill>
                <a:latin typeface="Segoe UI"/>
              </a:rPr>
              <a:t>Instead of using old static questions, the system generates fresh practice questions based on what the student uploaded.</a:t>
            </a:r>
          </a:p>
          <a:p>
            <a:pPr>
              <a:spcBef>
                <a:spcPts val="1200"/>
              </a:spcBef>
            </a:pPr>
            <a:endParaRPr lang="en-US"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1200"/>
              </a:spcBef>
            </a:pPr>
            <a:r>
              <a:rPr sz="1200" b="1" dirty="0">
                <a:solidFill>
                  <a:srgbClr val="0369A1"/>
                </a:solidFill>
                <a:latin typeface="Segoe UI"/>
              </a:rPr>
              <a:t>Guided Socratic Hints
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When a student makes a mistake, the AI gives helpful hints step-by-step so the student understands how to solve it themselves</a:t>
            </a:r>
            <a:r>
              <a:rPr sz="105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8092440" y="1188720"/>
            <a:ext cx="34747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Rounded Rectangle 15369"/>
          <p:cNvSpPr/>
          <p:nvPr/>
        </p:nvSpPr>
        <p:spPr>
          <a:xfrm>
            <a:off x="7823200" y="1444752"/>
            <a:ext cx="182880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KEY HIGHLIGHTS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275320" y="1719072"/>
            <a:ext cx="3108960" cy="39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endParaRPr lang="en-US" sz="1200" b="1" dirty="0">
              <a:solidFill>
                <a:srgbClr val="047857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47857"/>
                </a:solidFill>
                <a:latin typeface="Segoe UI"/>
              </a:rPr>
              <a:t>No Fixed Question Banks</a:t>
            </a:r>
            <a:endParaRPr lang="en-US" sz="1200" b="1" dirty="0">
              <a:solidFill>
                <a:srgbClr val="047857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200" b="1" dirty="0">
                <a:solidFill>
                  <a:srgbClr val="047857"/>
                </a:solidFill>
                <a:latin typeface="Segoe UI"/>
              </a:rPr>
              <a:t>
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Questions are created fresh for the specific chapter or topic the student needs to practice.</a:t>
            </a:r>
            <a:endParaRPr lang="en-US"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endParaRPr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1200"/>
              </a:spcBef>
            </a:pPr>
            <a:r>
              <a:rPr sz="1200" b="1" dirty="0">
                <a:solidFill>
                  <a:srgbClr val="047857"/>
                </a:solidFill>
                <a:latin typeface="Segoe UI"/>
              </a:rPr>
              <a:t>Clear View of Weak Areas
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Clearly identifies which topics had wrong answers, so students know exactly what needs revision.</a:t>
            </a:r>
            <a:endParaRPr lang="en-US"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1200"/>
              </a:spcBef>
            </a:pPr>
            <a:endParaRPr sz="1200" dirty="0">
              <a:solidFill>
                <a:srgbClr val="1E293B"/>
              </a:solidFill>
              <a:latin typeface="Segoe UI"/>
            </a:endParaRPr>
          </a:p>
          <a:p>
            <a:pPr>
              <a:spcBef>
                <a:spcPts val="1200"/>
              </a:spcBef>
            </a:pPr>
            <a:r>
              <a:rPr sz="1200" b="1" dirty="0">
                <a:solidFill>
                  <a:srgbClr val="047857"/>
                </a:solidFill>
                <a:latin typeface="Segoe UI"/>
              </a:rPr>
              <a:t>Grounded in Real Student Input
</a:t>
            </a:r>
            <a:r>
              <a:rPr sz="1200" dirty="0">
                <a:solidFill>
                  <a:srgbClr val="1E293B"/>
                </a:solidFill>
                <a:latin typeface="Segoe UI"/>
              </a:rPr>
              <a:t>Everything on the student's dashboard comes directly from their own notes, tests, and actual study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422302" y="206594"/>
            <a:ext cx="7132320" cy="530352"/>
          </a:xfrm>
        </p:spPr>
        <p:txBody>
          <a:bodyPr wrap="square" lIns="45720"/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TECHNICAL APPROACH: HOW IT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97983" y="262020"/>
            <a:ext cx="17830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 MENTOR MATE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294068" y="988837"/>
            <a:ext cx="10972800" cy="64457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/>
            <a:r>
              <a:rPr sz="1400" b="1" dirty="0">
                <a:solidFill>
                  <a:srgbClr val="0F172A"/>
                </a:solidFill>
              </a:rPr>
              <a:t>Frontend: </a:t>
            </a:r>
            <a:r>
              <a:rPr sz="1400" dirty="0">
                <a:solidFill>
                  <a:srgbClr val="0284C7"/>
                </a:solidFill>
              </a:rPr>
              <a:t>Next.js &amp; React (Clean student UI)</a:t>
            </a:r>
            <a:r>
              <a:rPr sz="1400" b="1" dirty="0">
                <a:solidFill>
                  <a:srgbClr val="0F172A"/>
                </a:solidFill>
              </a:rPr>
              <a:t> | Backend: </a:t>
            </a:r>
            <a:r>
              <a:rPr sz="1400" dirty="0">
                <a:solidFill>
                  <a:srgbClr val="0284C7"/>
                </a:solidFill>
              </a:rPr>
              <a:t>FastAPI / Python (Fast &amp; lightweight API)</a:t>
            </a:r>
            <a:r>
              <a:rPr sz="1400" b="1" dirty="0">
                <a:solidFill>
                  <a:srgbClr val="0F172A"/>
                </a:solidFill>
              </a:rPr>
              <a:t> | AI &amp; OCR: </a:t>
            </a:r>
            <a:r>
              <a:rPr sz="1400" dirty="0">
                <a:solidFill>
                  <a:srgbClr val="0284C7"/>
                </a:solidFill>
              </a:rPr>
              <a:t>Vision AI (Reads notes) + LLM (Generates tests)</a:t>
            </a:r>
            <a:r>
              <a:rPr sz="1400" b="1" dirty="0">
                <a:solidFill>
                  <a:srgbClr val="0F172A"/>
                </a:solidFill>
              </a:rPr>
              <a:t> | Database: </a:t>
            </a:r>
            <a:r>
              <a:rPr sz="1400" dirty="0">
                <a:solidFill>
                  <a:srgbClr val="0284C7"/>
                </a:solidFill>
              </a:rPr>
              <a:t>MongoDB (Stores notes &amp; scores)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27390" y="2299553"/>
            <a:ext cx="3474720" cy="423840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176870" y="1918164"/>
            <a:ext cx="2245432" cy="47340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STEP 1: UPLOAD &amp; READ NOTES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26583" y="2420569"/>
            <a:ext cx="310896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endParaRPr lang="en-US" sz="1400" b="1" dirty="0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Upload Notebook Snaps &amp; PDFs</a:t>
            </a:r>
            <a:r>
              <a:rPr lang="en-US" sz="1400" b="1" dirty="0">
                <a:solidFill>
                  <a:srgbClr val="0F172A"/>
                </a:solidFill>
              </a:rPr>
              <a:t>
</a:t>
            </a:r>
            <a:r>
              <a:rPr lang="en-US" sz="1400" dirty="0">
                <a:solidFill>
                  <a:srgbClr val="1E293B"/>
                </a:solidFill>
              </a:rPr>
              <a:t>Students can upload photos of handwritten spiral notebooks, textbook pages, or lecture slides.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Extracts Text &amp; Formulas</a:t>
            </a:r>
            <a:endParaRPr lang="en-IN" sz="1400" b="1" dirty="0">
              <a:solidFill>
                <a:srgbClr val="0F172A"/>
              </a:solidFill>
            </a:endParaRPr>
          </a:p>
          <a:p>
            <a:pPr>
              <a:spcBef>
                <a:spcPts val="1200"/>
              </a:spcBef>
            </a:pPr>
            <a:r>
              <a:rPr sz="1400" dirty="0">
                <a:solidFill>
                  <a:srgbClr val="1E293B"/>
                </a:solidFill>
              </a:rPr>
              <a:t>Vision AI reads the handwriting, extracts core formulas, and creates a clear summary of the page.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Quick Self-Check Drills
</a:t>
            </a:r>
            <a:r>
              <a:rPr sz="1400" dirty="0">
                <a:solidFill>
                  <a:srgbClr val="1E293B"/>
                </a:solidFill>
              </a:rPr>
              <a:t>Instantly generates 2 to 3 self-test questions from the uploaded page to confirm the student understood it.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52630" y="2293727"/>
            <a:ext cx="3474720" cy="4244233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4154510" y="1887315"/>
            <a:ext cx="2422087" cy="504253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STEP 2: DYNAMIC PRACTICE TESTS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648200" y="2420569"/>
            <a:ext cx="310896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endParaRPr lang="en-US" sz="1400" b="1" dirty="0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Choose Any Class Topic
</a:t>
            </a:r>
            <a:r>
              <a:rPr sz="1400" dirty="0">
                <a:solidFill>
                  <a:srgbClr val="1E293B"/>
                </a:solidFill>
              </a:rPr>
              <a:t>Students can test themselves either on their uploaded notes or type in any topic they learned in class today.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Generates 5 Practice MCQs
</a:t>
            </a:r>
            <a:r>
              <a:rPr sz="1400" dirty="0">
                <a:solidFill>
                  <a:srgbClr val="1E293B"/>
                </a:solidFill>
              </a:rPr>
              <a:t>AI creates 5 fresh multiple-choice questions on the spot, complete with 4 clear options and worked solutions.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Immediate Answer Review
</a:t>
            </a:r>
            <a:r>
              <a:rPr sz="1400" dirty="0">
                <a:solidFill>
                  <a:srgbClr val="1E293B"/>
                </a:solidFill>
              </a:rPr>
              <a:t>Shows student what they got right, what was wrong, and the step-by-step method to solve each question.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025470" y="2294802"/>
            <a:ext cx="3474720" cy="424315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7774547" y="1887315"/>
            <a:ext cx="2304674" cy="47340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STEP 3: HINTS &amp; WEAK SPOTS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356457" y="2436860"/>
            <a:ext cx="310896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endParaRPr lang="en-US" sz="1400" b="1" dirty="0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Step-by-Step Guiding Hints
</a:t>
            </a:r>
            <a:r>
              <a:rPr sz="1400" dirty="0">
                <a:solidFill>
                  <a:srgbClr val="1E293B"/>
                </a:solidFill>
              </a:rPr>
              <a:t>Instead of giving direct answers, the AI tutor gives small hints so students think and solve it themselves.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Flags Topics for Revision
</a:t>
            </a:r>
            <a:r>
              <a:rPr sz="1400" dirty="0">
                <a:solidFill>
                  <a:srgbClr val="1E293B"/>
                </a:solidFill>
              </a:rPr>
              <a:t>Keeps a list of questions and topics where the student made mistakes so they can review them before exams.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Free Course Recommendations
</a:t>
            </a:r>
            <a:r>
              <a:rPr sz="1400" dirty="0">
                <a:solidFill>
                  <a:srgbClr val="1E293B"/>
                </a:solidFill>
              </a:rPr>
              <a:t>Connects weak topics directly to free, high-quality chapters from NCERT and NPTEL for extra practice.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12603" y="178630"/>
            <a:ext cx="7132320" cy="530352"/>
          </a:xfrm>
        </p:spPr>
        <p:txBody>
          <a:bodyPr wrap="square" lIns="45720"/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FEASIBILITY &amp; PRACTICAL IMPLEMENTATION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94360" y="320040"/>
            <a:ext cx="17830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 MENTOR MATE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7219" y="1188720"/>
            <a:ext cx="5578591" cy="54799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162064" y="915231"/>
            <a:ext cx="2613767" cy="582083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HOW WE BUILD IT (FEASIBILITY)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76060" y="1672598"/>
            <a:ext cx="4892040" cy="4560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Fast &amp; Lightweight Backend</a:t>
            </a:r>
            <a:endParaRPr lang="en-US" sz="1400" b="1" dirty="0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300" b="1" dirty="0">
                <a:solidFill>
                  <a:srgbClr val="0F172A"/>
                </a:solidFill>
              </a:rPr>
              <a:t>
</a:t>
            </a:r>
            <a:r>
              <a:rPr sz="1300" dirty="0">
                <a:solidFill>
                  <a:srgbClr val="1E293B"/>
                </a:solidFill>
              </a:rPr>
              <a:t>FastAPI handles note uploads and test requests asynchronously, keeping the app fast and responsive even with multiple users.</a:t>
            </a:r>
            <a:endParaRPr lang="en-US" sz="1300" dirty="0">
              <a:solidFill>
                <a:srgbClr val="1E293B"/>
              </a:solidFill>
            </a:endParaRPr>
          </a:p>
          <a:p>
            <a:pPr>
              <a:spcBef>
                <a:spcPts val="200"/>
              </a:spcBef>
            </a:pPr>
            <a:endParaRPr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400" b="1" dirty="0">
                <a:solidFill>
                  <a:srgbClr val="0F172A"/>
                </a:solidFill>
              </a:rPr>
              <a:t>Zero Licensing Costs for Content</a:t>
            </a:r>
            <a:r>
              <a:rPr sz="1300" b="1" dirty="0">
                <a:solidFill>
                  <a:srgbClr val="0F172A"/>
                </a:solidFill>
              </a:rPr>
              <a:t>
</a:t>
            </a:r>
            <a:r>
              <a:rPr sz="1300" dirty="0">
                <a:solidFill>
                  <a:srgbClr val="1E293B"/>
                </a:solidFill>
              </a:rPr>
              <a:t>Uses verified, free open educational content (NCERT textbooks, NPTEL/SWAYAM), avoiding expensive content creation or licensing.</a:t>
            </a:r>
            <a:endParaRPr lang="en-US"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endParaRPr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400" b="1" dirty="0">
                <a:solidFill>
                  <a:srgbClr val="0F172A"/>
                </a:solidFill>
              </a:rPr>
              <a:t>Low Server Storage Costs</a:t>
            </a:r>
            <a:r>
              <a:rPr sz="1300" b="1" dirty="0">
                <a:solidFill>
                  <a:srgbClr val="0F172A"/>
                </a:solidFill>
              </a:rPr>
              <a:t>
</a:t>
            </a:r>
            <a:r>
              <a:rPr sz="1300" dirty="0">
                <a:solidFill>
                  <a:srgbClr val="1E293B"/>
                </a:solidFill>
              </a:rPr>
              <a:t>We store text summaries, formulas, and test scores in MongoDB rather than heavy video files, keeping cloud costs minimal.</a:t>
            </a:r>
            <a:endParaRPr lang="en-US"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endParaRPr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400" b="1" dirty="0">
                <a:solidFill>
                  <a:srgbClr val="0F172A"/>
                </a:solidFill>
              </a:rPr>
              <a:t>Tested Working Prototype</a:t>
            </a:r>
            <a:r>
              <a:rPr sz="1300" b="1" dirty="0">
                <a:solidFill>
                  <a:srgbClr val="0F172A"/>
                </a:solidFill>
              </a:rPr>
              <a:t>
</a:t>
            </a:r>
            <a:r>
              <a:rPr sz="1300" dirty="0">
                <a:solidFill>
                  <a:srgbClr val="1E293B"/>
                </a:solidFill>
              </a:rPr>
              <a:t>Core features like user authentication, note parsing, and dynamic question generation are tested with automated test scripts.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363460" y="1188720"/>
            <a:ext cx="5359081" cy="5560851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6023446" y="915231"/>
            <a:ext cx="2451480" cy="582083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REAL CHALLENGES &amp; OUR FIXES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523900" y="1672598"/>
            <a:ext cx="4892040" cy="4560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 dirty="0">
                <a:solidFill>
                  <a:srgbClr val="B45309"/>
                </a:solidFill>
              </a:rPr>
              <a:t>Messy Handwriting &amp; Poor Photos</a:t>
            </a:r>
            <a:endParaRPr lang="en-US" sz="1400" b="1" dirty="0">
              <a:solidFill>
                <a:srgbClr val="B45309"/>
              </a:solidFill>
            </a:endParaRPr>
          </a:p>
          <a:p>
            <a:pPr>
              <a:spcBef>
                <a:spcPts val="200"/>
              </a:spcBef>
            </a:pPr>
            <a:r>
              <a:rPr sz="1300" b="1" dirty="0">
                <a:solidFill>
                  <a:srgbClr val="B45309"/>
                </a:solidFill>
              </a:rPr>
              <a:t>
</a:t>
            </a:r>
            <a:r>
              <a:rPr sz="1300" dirty="0">
                <a:solidFill>
                  <a:srgbClr val="1E293B"/>
                </a:solidFill>
              </a:rPr>
              <a:t>Fix: Use high-accuracy Vision AI models and give students a quick screen to review or edit extracted text before generating tests.</a:t>
            </a:r>
            <a:endParaRPr lang="en-US" sz="1300" dirty="0">
              <a:solidFill>
                <a:srgbClr val="1E293B"/>
              </a:solidFill>
            </a:endParaRPr>
          </a:p>
          <a:p>
            <a:pPr>
              <a:spcBef>
                <a:spcPts val="200"/>
              </a:spcBef>
            </a:pPr>
            <a:endParaRPr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400" b="1" dirty="0">
                <a:solidFill>
                  <a:srgbClr val="B45309"/>
                </a:solidFill>
              </a:rPr>
              <a:t>Risk of AI Hallucinating Answers</a:t>
            </a:r>
            <a:r>
              <a:rPr sz="1300" b="1" dirty="0">
                <a:solidFill>
                  <a:srgbClr val="B45309"/>
                </a:solidFill>
              </a:rPr>
              <a:t>
</a:t>
            </a:r>
            <a:r>
              <a:rPr sz="1300" dirty="0">
                <a:solidFill>
                  <a:srgbClr val="1E293B"/>
                </a:solidFill>
              </a:rPr>
              <a:t>Fix: Strictly ground test questions in the student's uploaded notes and standard syllabus topics with verifiable solutions.</a:t>
            </a:r>
            <a:endParaRPr lang="en-US"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endParaRPr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400" b="1" dirty="0">
                <a:solidFill>
                  <a:srgbClr val="B45309"/>
                </a:solidFill>
              </a:rPr>
              <a:t>AI API Call Costs</a:t>
            </a:r>
            <a:r>
              <a:rPr sz="1300" b="1" dirty="0">
                <a:solidFill>
                  <a:srgbClr val="B45309"/>
                </a:solidFill>
              </a:rPr>
              <a:t>
</a:t>
            </a:r>
            <a:r>
              <a:rPr sz="1300" dirty="0">
                <a:solidFill>
                  <a:srgbClr val="1E293B"/>
                </a:solidFill>
              </a:rPr>
              <a:t>Fix: Cache common syllabus topics and use fast, cost-effective models for routine practice quizzes.</a:t>
            </a:r>
            <a:endParaRPr lang="en-US"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endParaRPr sz="1300" dirty="0">
              <a:solidFill>
                <a:srgbClr val="1E293B"/>
              </a:solidFill>
            </a:endParaRPr>
          </a:p>
          <a:p>
            <a:pPr>
              <a:spcBef>
                <a:spcPts val="1100"/>
              </a:spcBef>
            </a:pPr>
            <a:r>
              <a:rPr sz="1400" b="1" dirty="0">
                <a:solidFill>
                  <a:srgbClr val="B45309"/>
                </a:solidFill>
              </a:rPr>
              <a:t>Keeping Study Routine Simple</a:t>
            </a:r>
            <a:r>
              <a:rPr sz="1300" b="1" dirty="0">
                <a:solidFill>
                  <a:srgbClr val="B45309"/>
                </a:solidFill>
              </a:rPr>
              <a:t>
</a:t>
            </a:r>
            <a:r>
              <a:rPr sz="1300" dirty="0">
                <a:solidFill>
                  <a:srgbClr val="1E293B"/>
                </a:solidFill>
              </a:rPr>
              <a:t>Fix: Allow students to set simple daily goals (e.g. 1 to 2 hours) so they stay consistent without feeling overwhelmed.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14600" y="256032"/>
            <a:ext cx="7132320" cy="530352"/>
          </a:xfrm>
        </p:spPr>
        <p:txBody>
          <a:bodyPr wrap="square" lIns="45720"/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TARGET AUDIENCE &amp; PRACTICAL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94360" y="320040"/>
            <a:ext cx="17830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MENTOR MATE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051560"/>
            <a:ext cx="34747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1056067" y="1216152"/>
            <a:ext cx="2446985" cy="381601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SCHOOL (CLASS 9-10)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77240" y="1758573"/>
            <a:ext cx="310896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Focus Areas: </a:t>
            </a:r>
            <a:r>
              <a:rPr sz="1400" dirty="0">
                <a:solidFill>
                  <a:srgbClr val="1E293B"/>
                </a:solidFill>
              </a:rPr>
              <a:t>10th CBSE, ICSE, and State Board exams, plus basic science and math foundations.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F172A"/>
                </a:solidFill>
              </a:rPr>
              <a:t>How It Helps: </a:t>
            </a:r>
            <a:r>
              <a:rPr sz="1400" dirty="0">
                <a:solidFill>
                  <a:srgbClr val="1E293B"/>
                </a:solidFill>
              </a:rPr>
              <a:t>Turns notebook pages into quick revision quizzes so students practice actively instead of just reading.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F172A"/>
                </a:solidFill>
              </a:rPr>
              <a:t>Student Benefit: </a:t>
            </a:r>
            <a:r>
              <a:rPr sz="1400" dirty="0">
                <a:solidFill>
                  <a:srgbClr val="1E293B"/>
                </a:solidFill>
              </a:rPr>
              <a:t>Builds regular daily study habits and strengthens basic concepts before senior high school</a:t>
            </a:r>
            <a:r>
              <a:rPr sz="1000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43400" y="1051560"/>
            <a:ext cx="34747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4816699" y="1216152"/>
            <a:ext cx="2453425" cy="381601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SENIOR SECONDARY (11-12)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41519" y="1734913"/>
            <a:ext cx="310896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Focus Areas: </a:t>
            </a:r>
            <a:r>
              <a:rPr sz="1400" dirty="0">
                <a:solidFill>
                  <a:srgbClr val="1E293B"/>
                </a:solidFill>
              </a:rPr>
              <a:t>12th Boards and entrance exams like JEE, NEET, and State Engineering CETs.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F172A"/>
                </a:solidFill>
              </a:rPr>
              <a:t>How It Helps: </a:t>
            </a:r>
            <a:r>
              <a:rPr sz="1400" dirty="0">
                <a:solidFill>
                  <a:srgbClr val="1E293B"/>
                </a:solidFill>
              </a:rPr>
              <a:t>Provides regular MCQ problem-solving with step-by-step solutions to practice </a:t>
            </a:r>
            <a:r>
              <a:rPr sz="1400" dirty="0" err="1">
                <a:solidFill>
                  <a:srgbClr val="1E293B"/>
                </a:solidFill>
              </a:rPr>
              <a:t>numericals</a:t>
            </a:r>
            <a:r>
              <a:rPr sz="1400" dirty="0">
                <a:solidFill>
                  <a:srgbClr val="1E293B"/>
                </a:solidFill>
              </a:rPr>
              <a:t> and formulas.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F172A"/>
                </a:solidFill>
              </a:rPr>
              <a:t>Student Benefit: </a:t>
            </a:r>
            <a:r>
              <a:rPr sz="1400" dirty="0">
                <a:solidFill>
                  <a:srgbClr val="1E293B"/>
                </a:solidFill>
              </a:rPr>
              <a:t>Helps students quickly spot which chapters they keep getting wrong so they can review them in time.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42726" y="1051560"/>
            <a:ext cx="34747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8448541" y="1216152"/>
            <a:ext cx="2511380" cy="381601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COLLEGE UNDERGRADS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275320" y="1734913"/>
            <a:ext cx="310896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Focus Areas: </a:t>
            </a:r>
            <a:r>
              <a:rPr sz="1400" dirty="0">
                <a:solidFill>
                  <a:srgbClr val="1E293B"/>
                </a:solidFill>
              </a:rPr>
              <a:t>Semester university exams, GATE, and campus placement prep (DSA and core subjects).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F172A"/>
                </a:solidFill>
              </a:rPr>
              <a:t>How It Helps: </a:t>
            </a:r>
            <a:r>
              <a:rPr sz="1400" dirty="0">
                <a:solidFill>
                  <a:srgbClr val="1E293B"/>
                </a:solidFill>
              </a:rPr>
              <a:t>Summarizes long professor slides and generates test drills for theoretical and programming concepts.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F172A"/>
                </a:solidFill>
              </a:rPr>
              <a:t>Student Benefit: </a:t>
            </a:r>
            <a:r>
              <a:rPr sz="1400" dirty="0">
                <a:solidFill>
                  <a:srgbClr val="1E293B"/>
                </a:solidFill>
              </a:rPr>
              <a:t>Saves time organizing college study materials and provides quick self-testing before exams</a:t>
            </a:r>
            <a:r>
              <a:rPr sz="1000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34851" y="4800600"/>
            <a:ext cx="11695085" cy="2041793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TextBox 17420"/>
          <p:cNvSpPr txBox="1"/>
          <p:nvPr/>
        </p:nvSpPr>
        <p:spPr>
          <a:xfrm>
            <a:off x="777240" y="4841646"/>
            <a:ext cx="1060704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369A1"/>
                </a:solidFill>
              </a:defRPr>
            </a:pPr>
            <a:r>
              <a:rPr sz="2000" dirty="0"/>
              <a:t>PRACTICAL BENEFITS OF MENTOR MATE</a:t>
            </a:r>
            <a:endParaRPr lang="en-US" sz="2000" dirty="0"/>
          </a:p>
          <a:p>
            <a:pPr>
              <a:defRPr sz="1150" b="1">
                <a:solidFill>
                  <a:srgbClr val="0369A1"/>
                </a:solidFill>
              </a:defRPr>
            </a:pPr>
            <a:endParaRPr dirty="0"/>
          </a:p>
          <a:p>
            <a:pPr>
              <a:spcBef>
                <a:spcPts val="400"/>
              </a:spcBef>
            </a:pPr>
            <a:r>
              <a:rPr sz="1600" b="1" dirty="0">
                <a:solidFill>
                  <a:srgbClr val="0F172A"/>
                </a:solidFill>
              </a:rPr>
              <a:t>Practice From Your Own Notes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1E293B"/>
                </a:solidFill>
              </a:rPr>
              <a:t>Students practice from what their teacher actually taught in class, without having to hunt for new questions.</a:t>
            </a:r>
          </a:p>
          <a:p>
            <a:pPr>
              <a:spcBef>
                <a:spcPts val="400"/>
              </a:spcBef>
            </a:pPr>
            <a:r>
              <a:rPr sz="1600" b="1" dirty="0">
                <a:solidFill>
                  <a:srgbClr val="0F172A"/>
                </a:solidFill>
              </a:rPr>
              <a:t>Active Problem Solving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1E293B"/>
                </a:solidFill>
              </a:rPr>
              <a:t>Taking short quizzes and getting stepped hints helps students remember concepts much better than passively watching videos.</a:t>
            </a:r>
          </a:p>
          <a:p>
            <a:pPr>
              <a:spcBef>
                <a:spcPts val="400"/>
              </a:spcBef>
            </a:pPr>
            <a:r>
              <a:rPr sz="1600" b="1" dirty="0">
                <a:solidFill>
                  <a:srgbClr val="0F172A"/>
                </a:solidFill>
              </a:rPr>
              <a:t>Clear Revision Focus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1E293B"/>
                </a:solidFill>
              </a:rPr>
              <a:t>Shows students clearly where they made mistakes, so they spend their study time on topics that actually need work.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14600" y="256032"/>
            <a:ext cx="7132320" cy="530352"/>
          </a:xfrm>
        </p:spPr>
        <p:txBody>
          <a:bodyPr wrap="square" lIns="45720"/>
          <a:lstStyle/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RESEARCH FOUNDATIONS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94360" y="320040"/>
            <a:ext cx="17830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MENTOR MATE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453895"/>
            <a:ext cx="3427379" cy="476164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899589" y="1242107"/>
            <a:ext cx="2651760" cy="4572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ACTIVE RECALL &amp; PRACTICE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91740" y="1917861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Research Reference
</a:t>
            </a:r>
            <a:r>
              <a:rPr sz="1400" dirty="0">
                <a:solidFill>
                  <a:srgbClr val="1E293B"/>
                </a:solidFill>
              </a:rPr>
              <a:t>Dunlosky et al. (2013), 'Improving Students' Learning with Effective Learning Techniques', Psychological Science in the Public Interest.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Key Finding
</a:t>
            </a:r>
            <a:r>
              <a:rPr sz="1400" dirty="0">
                <a:solidFill>
                  <a:srgbClr val="1E293B"/>
                </a:solidFill>
              </a:rPr>
              <a:t>Extensive educational research proves that practice testing and active recall create much stronger long-term retention than passively re-reading or re-watching lectures.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How We Use It
</a:t>
            </a:r>
            <a:r>
              <a:rPr sz="1400" dirty="0">
                <a:solidFill>
                  <a:srgbClr val="1E293B"/>
                </a:solidFill>
              </a:rPr>
              <a:t>Mentor Mate immediately creates practice questions from uploaded notes so students actively test their memory right after studying.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57900" y="1453896"/>
            <a:ext cx="3277340" cy="47616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4584235" y="1242107"/>
            <a:ext cx="2743844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GUIDED SOCRATIC HINTS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26280" y="1828800"/>
            <a:ext cx="3108960" cy="3965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Research Reference
</a:t>
            </a:r>
            <a:r>
              <a:rPr sz="1400" dirty="0">
                <a:solidFill>
                  <a:srgbClr val="1E293B"/>
                </a:solidFill>
              </a:rPr>
              <a:t>Chi et al. (2001), 'Learning from Human Tutoring', Cognitive Science &amp; Bloom (1984), 'The 2 Sigma Problem'.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Key Finding
</a:t>
            </a:r>
            <a:r>
              <a:rPr sz="1400" dirty="0">
                <a:solidFill>
                  <a:srgbClr val="1E293B"/>
                </a:solidFill>
              </a:rPr>
              <a:t>Students understand complex concepts much better when guided with progressive hints to discover answers themselves, rather than being given direct solutions.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How We Use It
</a:t>
            </a:r>
            <a:r>
              <a:rPr sz="1400" dirty="0">
                <a:solidFill>
                  <a:srgbClr val="1E293B"/>
                </a:solidFill>
              </a:rPr>
              <a:t>Our AI Mentor breaks down difficult questions into 2 progressive hints, guiding the student to solve the problem on their own.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92440" y="1453896"/>
            <a:ext cx="3402874" cy="47616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8408187" y="1242107"/>
            <a:ext cx="2884224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18288" rIns="73152" bIns="18288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STANDARD CURRICULUM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305800" y="1828800"/>
            <a:ext cx="3108960" cy="374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1" dirty="0">
                <a:solidFill>
                  <a:srgbClr val="0F172A"/>
                </a:solidFill>
              </a:rPr>
              <a:t>Research Reference
</a:t>
            </a:r>
            <a:r>
              <a:rPr sz="1400" dirty="0">
                <a:solidFill>
                  <a:srgbClr val="1E293B"/>
                </a:solidFill>
              </a:rPr>
              <a:t>NCERT National Curriculum Framework &amp; NPTEL / SWAYAM Open Education Guidelines (Ministry of Education).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Key Finding
</a:t>
            </a:r>
            <a:r>
              <a:rPr sz="1400" dirty="0">
                <a:solidFill>
                  <a:srgbClr val="1E293B"/>
                </a:solidFill>
              </a:rPr>
              <a:t>Grounding practice questions and revision topics in standardized national syllabi ensures test questions match actual exam difficulty and patterns.</a:t>
            </a:r>
          </a:p>
          <a:p>
            <a:pPr>
              <a:spcBef>
                <a:spcPts val="1200"/>
              </a:spcBef>
            </a:pPr>
            <a:r>
              <a:rPr sz="1400" b="1" dirty="0">
                <a:solidFill>
                  <a:srgbClr val="0F172A"/>
                </a:solidFill>
              </a:rPr>
              <a:t>How We Use It
</a:t>
            </a:r>
            <a:r>
              <a:rPr sz="1400" dirty="0">
                <a:solidFill>
                  <a:srgbClr val="1E293B"/>
                </a:solidFill>
              </a:rPr>
              <a:t>Our topic suggestions and diagnostic tests follow official NCERT and university syllabus structures, linking weak areas to free open courseware.</a:t>
            </a:r>
          </a:p>
        </p:txBody>
      </p:sp>
      <p:sp>
        <p:nvSpPr>
          <p:cNvPr id="2" name="TextBox 1">
            <a:hlinkClick r:id="rId4"/>
            <a:extLst>
              <a:ext uri="{FF2B5EF4-FFF2-40B4-BE49-F238E27FC236}">
                <a16:creationId xmlns:a16="http://schemas.microsoft.com/office/drawing/2014/main" id="{CFE4685F-F9F8-C0D4-5AA6-5D2BD598CBFA}"/>
              </a:ext>
            </a:extLst>
          </p:cNvPr>
          <p:cNvSpPr txBox="1"/>
          <p:nvPr/>
        </p:nvSpPr>
        <p:spPr>
          <a:xfrm>
            <a:off x="122349" y="6356353"/>
            <a:ext cx="119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Links : -</a:t>
            </a:r>
            <a:r>
              <a:rPr lang="en-US" dirty="0">
                <a:hlinkClick r:id="rId4"/>
              </a:rPr>
              <a:t>https://1drv.ms/w/c/bea99ad8e29ab209/IQADxSzpLmJ7RZv6ZFMZgCxiAbkm9MJQU8xzQxkLoFgw4cE?e=hSY0fD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7753</TotalTime>
  <Words>1386</Words>
  <Application>Microsoft Office PowerPoint</Application>
  <PresentationFormat>Widescreen</PresentationFormat>
  <Paragraphs>122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Segoe UI</vt:lpstr>
      <vt:lpstr>TradeGothic</vt:lpstr>
      <vt:lpstr>Office Theme</vt:lpstr>
      <vt:lpstr>SMART INDIA HACKATHON 2026</vt:lpstr>
      <vt:lpstr>PROPOSED SOLUTION: MENTOR MATE</vt:lpstr>
      <vt:lpstr>TECHNICAL APPROACH: HOW IT WORKS</vt:lpstr>
      <vt:lpstr>FEASIBILITY &amp; PRACTICAL IMPLEMENTATION</vt:lpstr>
      <vt:lpstr>TARGET AUDIENCE &amp; PRACTICAL BENEFITS</vt:lpstr>
      <vt:lpstr>RESEARCH FOUNDATIONS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Yadnesh Kshirsagar.</cp:lastModifiedBy>
  <cp:revision>149</cp:revision>
  <dcterms:created xsi:type="dcterms:W3CDTF">2013-12-12T18:46:50Z</dcterms:created>
  <dcterms:modified xsi:type="dcterms:W3CDTF">2026-09-07T19:20:03Z</dcterms:modified>
  <cp:category/>
</cp:coreProperties>
</file>